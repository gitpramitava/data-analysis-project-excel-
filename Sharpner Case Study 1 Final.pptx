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74" r:id="rId2"/>
    <p:sldId id="275" r:id="rId3"/>
    <p:sldId id="276" r:id="rId4"/>
    <p:sldId id="277" r:id="rId5"/>
    <p:sldId id="257" r:id="rId6"/>
    <p:sldId id="258" r:id="rId7"/>
    <p:sldId id="260" r:id="rId8"/>
    <p:sldId id="262" r:id="rId9"/>
    <p:sldId id="264" r:id="rId10"/>
    <p:sldId id="266" r:id="rId11"/>
    <p:sldId id="268" r:id="rId12"/>
    <p:sldId id="272" r:id="rId13"/>
    <p:sldId id="27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3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fashionwave_sales_datase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fashionwave_sales_datase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fashionwave_sales_datase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Videos\fashionwave_sales_datase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Videos\fashionwave_sales_datase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Videos\fashionwave_sales_datase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Videos\fashionwave_sales_datase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[fashionwave_sales_dataset.xlsx]Sales Comparision by Days!PivotTable1</c:name>
    <c:fmtId val="5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'Sales Comparision by Days'!$B$3</c:f>
              <c:strCache>
                <c:ptCount val="1"/>
                <c:pt idx="0">
                  <c:v>Sum of 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&quot;₹&quot;\ 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'Sales Comparision by Days'!$A$4:$A$6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'Sales Comparision by Days'!$B$4:$B$6</c:f>
              <c:numCache>
                <c:formatCode>"₹"\ #,##0.00</c:formatCode>
                <c:ptCount val="2"/>
                <c:pt idx="0">
                  <c:v>3018765.2055000002</c:v>
                </c:pt>
                <c:pt idx="1">
                  <c:v>1117690.9455000001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B2-4196-A6EB-37BC712CD991}"/>
            </c:ext>
          </c:extLst>
        </c:ser>
        <c:ser>
          <c:idx val="1"/>
          <c:order val="1"/>
          <c:tx>
            <c:strRef>
              <c:f>'Sales Comparision by Days'!$C$3</c:f>
              <c:strCache>
                <c:ptCount val="1"/>
                <c:pt idx="0">
                  <c:v>Sum of Profit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'Sales Comparision by Days'!$A$4:$A$6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'Sales Comparision by Days'!$C$4:$C$6</c:f>
              <c:numCache>
                <c:formatCode>"₹"\ #,##0.00</c:formatCode>
                <c:ptCount val="2"/>
                <c:pt idx="0">
                  <c:v>1080732.4555000006</c:v>
                </c:pt>
                <c:pt idx="1">
                  <c:v>419507.16550000006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B2-4196-A6EB-37BC712CD99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39292271"/>
        <c:axId val="439291791"/>
      </c:barChart>
      <c:catAx>
        <c:axId val="4392922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9291791"/>
        <c:crosses val="autoZero"/>
        <c:auto val="1"/>
        <c:lblAlgn val="ctr"/>
        <c:lblOffset val="100"/>
        <c:noMultiLvlLbl val="0"/>
      </c:catAx>
      <c:valAx>
        <c:axId val="439291791"/>
        <c:scaling>
          <c:orientation val="minMax"/>
        </c:scaling>
        <c:delete val="0"/>
        <c:axPos val="l"/>
        <c:numFmt formatCode="&quot;₹&quot;\ 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92922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r"/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[fashionwave_sales_dataset.xlsx]Sheet4!PivotTable2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 dirty="0"/>
              <a:t>Revenue Performance by Product </a:t>
            </a:r>
            <a:r>
              <a:rPr lang="en-US" sz="1400" b="1" dirty="0"/>
              <a:t>Categories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prstClr val="black">
                    <a:lumMod val="65000"/>
                    <a:lumOff val="35000"/>
                  </a:prstClr>
                </a:solidFill>
              </a:defRPr>
            </a:pPr>
            <a:r>
              <a:rPr lang="en-IN" sz="1400" b="1" i="0" u="none" strike="noStrike" baseline="0" dirty="0"/>
              <a:t> </a:t>
            </a:r>
            <a:endParaRPr lang="en-US" dirty="0"/>
          </a:p>
        </c:rich>
      </c:tx>
      <c:layout>
        <c:manualLayout>
          <c:xMode val="edge"/>
          <c:yMode val="edge"/>
          <c:x val="0.25593625498007966"/>
          <c:y val="9.001873768785567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Sheet4!$B$3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93DE-43F7-9FC5-BF5BCEDF490B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3DE-43F7-9FC5-BF5BCEDF490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Sheet4!$A$4:$A$11</c:f>
              <c:strCache>
                <c:ptCount val="7"/>
                <c:pt idx="0">
                  <c:v>Footwear</c:v>
                </c:pt>
                <c:pt idx="1">
                  <c:v>Tops</c:v>
                </c:pt>
                <c:pt idx="2">
                  <c:v>Accessories</c:v>
                </c:pt>
                <c:pt idx="3">
                  <c:v>Shoes</c:v>
                </c:pt>
                <c:pt idx="4">
                  <c:v>Clothing</c:v>
                </c:pt>
                <c:pt idx="5">
                  <c:v>Activewear</c:v>
                </c:pt>
                <c:pt idx="6">
                  <c:v>Dresses</c:v>
                </c:pt>
              </c:strCache>
            </c:strRef>
          </c:cat>
          <c:val>
            <c:numRef>
              <c:f>Sheet4!$B$4:$B$11</c:f>
              <c:numCache>
                <c:formatCode>General</c:formatCode>
                <c:ptCount val="7"/>
                <c:pt idx="0">
                  <c:v>681486.15750000009</c:v>
                </c:pt>
                <c:pt idx="1">
                  <c:v>621991.71950000047</c:v>
                </c:pt>
                <c:pt idx="2">
                  <c:v>604015.46</c:v>
                </c:pt>
                <c:pt idx="3">
                  <c:v>601088.59049999982</c:v>
                </c:pt>
                <c:pt idx="4">
                  <c:v>566898.30250000011</c:v>
                </c:pt>
                <c:pt idx="5">
                  <c:v>563863.51400000008</c:v>
                </c:pt>
                <c:pt idx="6">
                  <c:v>497112.40699999989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DB-4C6F-B28D-C5CBEA031C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718653440"/>
        <c:axId val="718654880"/>
      </c:barChart>
      <c:catAx>
        <c:axId val="71865344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8654880"/>
        <c:crosses val="autoZero"/>
        <c:auto val="1"/>
        <c:lblAlgn val="ctr"/>
        <c:lblOffset val="100"/>
        <c:noMultiLvlLbl val="0"/>
      </c:catAx>
      <c:valAx>
        <c:axId val="718654880"/>
        <c:scaling>
          <c:orientation val="minMax"/>
        </c:scaling>
        <c:delete val="0"/>
        <c:axPos val="t"/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86534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[fashionwave_sales_dataset.xlsx]Sheet5!PivotTable3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6186802185294555"/>
          <c:y val="4.6041517122368925E-2"/>
          <c:w val="0.56291446803562739"/>
          <c:h val="0.745162674534262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Sheet5!$B$3</c:f>
              <c:strCache>
                <c:ptCount val="1"/>
                <c:pt idx="0">
                  <c:v>Sum of 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Sheet5!$A$4:$A$11</c:f>
              <c:strCache>
                <c:ptCount val="7"/>
                <c:pt idx="0">
                  <c:v>Footwear</c:v>
                </c:pt>
                <c:pt idx="1">
                  <c:v>Tops</c:v>
                </c:pt>
                <c:pt idx="2">
                  <c:v>Accessories</c:v>
                </c:pt>
                <c:pt idx="3">
                  <c:v>Shoes</c:v>
                </c:pt>
                <c:pt idx="4">
                  <c:v>Clothing</c:v>
                </c:pt>
                <c:pt idx="5">
                  <c:v>Activewear</c:v>
                </c:pt>
                <c:pt idx="6">
                  <c:v>Dresses</c:v>
                </c:pt>
              </c:strCache>
            </c:strRef>
          </c:cat>
          <c:val>
            <c:numRef>
              <c:f>Sheet5!$B$4:$B$11</c:f>
              <c:numCache>
                <c:formatCode>General</c:formatCode>
                <c:ptCount val="7"/>
                <c:pt idx="0">
                  <c:v>681486.15750000009</c:v>
                </c:pt>
                <c:pt idx="1">
                  <c:v>621991.71950000047</c:v>
                </c:pt>
                <c:pt idx="2">
                  <c:v>604015.46</c:v>
                </c:pt>
                <c:pt idx="3">
                  <c:v>601088.59049999982</c:v>
                </c:pt>
                <c:pt idx="4">
                  <c:v>566898.30250000011</c:v>
                </c:pt>
                <c:pt idx="5">
                  <c:v>563863.51400000008</c:v>
                </c:pt>
                <c:pt idx="6">
                  <c:v>497112.40699999989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C0-49D5-81E0-A35BC4BA3B1B}"/>
            </c:ext>
          </c:extLst>
        </c:ser>
        <c:ser>
          <c:idx val="1"/>
          <c:order val="1"/>
          <c:tx>
            <c:strRef>
              <c:f>Sheet5!$C$3</c:f>
              <c:strCache>
                <c:ptCount val="1"/>
                <c:pt idx="0">
                  <c:v>Sum of Profit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Sheet5!$A$4:$A$11</c:f>
              <c:strCache>
                <c:ptCount val="7"/>
                <c:pt idx="0">
                  <c:v>Footwear</c:v>
                </c:pt>
                <c:pt idx="1">
                  <c:v>Tops</c:v>
                </c:pt>
                <c:pt idx="2">
                  <c:v>Accessories</c:v>
                </c:pt>
                <c:pt idx="3">
                  <c:v>Shoes</c:v>
                </c:pt>
                <c:pt idx="4">
                  <c:v>Clothing</c:v>
                </c:pt>
                <c:pt idx="5">
                  <c:v>Activewear</c:v>
                </c:pt>
                <c:pt idx="6">
                  <c:v>Dresses</c:v>
                </c:pt>
              </c:strCache>
            </c:strRef>
          </c:cat>
          <c:val>
            <c:numRef>
              <c:f>Sheet5!$C$4:$C$11</c:f>
              <c:numCache>
                <c:formatCode>General</c:formatCode>
                <c:ptCount val="7"/>
                <c:pt idx="0">
                  <c:v>246679.69749999992</c:v>
                </c:pt>
                <c:pt idx="1">
                  <c:v>223574.18949999998</c:v>
                </c:pt>
                <c:pt idx="2">
                  <c:v>209801.84000000003</c:v>
                </c:pt>
                <c:pt idx="3">
                  <c:v>221301.48050000001</c:v>
                </c:pt>
                <c:pt idx="4">
                  <c:v>207862.66250000006</c:v>
                </c:pt>
                <c:pt idx="5">
                  <c:v>209636.75400000002</c:v>
                </c:pt>
                <c:pt idx="6">
                  <c:v>181382.997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6C0-49D5-81E0-A35BC4BA3B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68368032"/>
        <c:axId val="668361312"/>
      </c:barChart>
      <c:lineChart>
        <c:grouping val="standard"/>
        <c:varyColors val="0"/>
        <c:ser>
          <c:idx val="2"/>
          <c:order val="2"/>
          <c:tx>
            <c:strRef>
              <c:f>Sheet5!$D$3</c:f>
              <c:strCache>
                <c:ptCount val="1"/>
                <c:pt idx="0">
                  <c:v>Sum of Profitable Margin</c:v>
                </c:pt>
              </c:strCache>
            </c:strRef>
          </c:tx>
          <c:spPr>
            <a:ln w="603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Sheet5!$A$4:$A$11</c:f>
              <c:strCache>
                <c:ptCount val="7"/>
                <c:pt idx="0">
                  <c:v>Footwear</c:v>
                </c:pt>
                <c:pt idx="1">
                  <c:v>Tops</c:v>
                </c:pt>
                <c:pt idx="2">
                  <c:v>Accessories</c:v>
                </c:pt>
                <c:pt idx="3">
                  <c:v>Shoes</c:v>
                </c:pt>
                <c:pt idx="4">
                  <c:v>Clothing</c:v>
                </c:pt>
                <c:pt idx="5">
                  <c:v>Activewear</c:v>
                </c:pt>
                <c:pt idx="6">
                  <c:v>Dresses</c:v>
                </c:pt>
              </c:strCache>
            </c:strRef>
          </c:cat>
          <c:val>
            <c:numRef>
              <c:f>Sheet5!$D$4:$D$11</c:f>
              <c:numCache>
                <c:formatCode>0.0%</c:formatCode>
                <c:ptCount val="7"/>
                <c:pt idx="0">
                  <c:v>0.36197315937411378</c:v>
                </c:pt>
                <c:pt idx="1">
                  <c:v>0.3594488198005662</c:v>
                </c:pt>
                <c:pt idx="2">
                  <c:v>0.34734514907946235</c:v>
                </c:pt>
                <c:pt idx="3">
                  <c:v>0.3681678275009615</c:v>
                </c:pt>
                <c:pt idx="4">
                  <c:v>0.36666658126040169</c:v>
                </c:pt>
                <c:pt idx="5">
                  <c:v>0.37178634331711696</c:v>
                </c:pt>
                <c:pt idx="6">
                  <c:v>0.36487320462311462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6C0-49D5-81E0-A35BC4BA3B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7960959"/>
        <c:axId val="197960479"/>
      </c:lineChart>
      <c:catAx>
        <c:axId val="6683680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8361312"/>
        <c:crosses val="autoZero"/>
        <c:auto val="1"/>
        <c:lblAlgn val="ctr"/>
        <c:lblOffset val="100"/>
        <c:noMultiLvlLbl val="0"/>
      </c:catAx>
      <c:valAx>
        <c:axId val="6683613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8368032"/>
        <c:crosses val="autoZero"/>
        <c:crossBetween val="between"/>
      </c:valAx>
      <c:valAx>
        <c:axId val="197960479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960959"/>
        <c:crosses val="max"/>
        <c:crossBetween val="between"/>
      </c:valAx>
      <c:catAx>
        <c:axId val="19796095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9796047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3036366787218885"/>
          <c:y val="5.08328669858263E-2"/>
          <c:w val="0.15436764357075713"/>
          <c:h val="0.4253623174076483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[fashionwave_sales_dataset.xlsx]Discount Brand vs Profir Margin!PivotTable4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baseline="0"/>
              <a:t>Impact of Discount on Profit Margin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>
              <a:lumMod val="75000"/>
            </a:schemeClr>
          </a:solidFill>
          <a:ln>
            <a:noFill/>
          </a:ln>
          <a:effectLst/>
        </c:spPr>
      </c:pivotFmt>
      <c:pivotFmt>
        <c:idx val="3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3">
              <a:lumMod val="75000"/>
            </a:schemeClr>
          </a:solidFill>
          <a:ln>
            <a:noFill/>
          </a:ln>
          <a:effectLst/>
        </c:spPr>
      </c:pivotFmt>
      <c:pivotFmt>
        <c:idx val="7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3">
              <a:lumMod val="75000"/>
            </a:schemeClr>
          </a:solidFill>
          <a:ln>
            <a:noFill/>
          </a:ln>
          <a:effectLst/>
        </c:spPr>
      </c:pivotFmt>
      <c:pivotFmt>
        <c:idx val="11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</c:pivotFmt>
      <c:pivotFmt>
        <c:idx val="12"/>
        <c:spPr>
          <a:solidFill>
            <a:schemeClr val="accent2"/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'Discount Brand vs Profir Margin'!$B$3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8A3-4EA1-8548-31DD423E9CBF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8A3-4EA1-8548-31DD423E9CBF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8A3-4EA1-8548-31DD423E9CB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'Discount Brand vs Profir Margin'!$A$4:$A$7</c:f>
              <c:strCache>
                <c:ptCount val="3"/>
                <c:pt idx="0">
                  <c:v>0-10%</c:v>
                </c:pt>
                <c:pt idx="1">
                  <c:v>10-20%</c:v>
                </c:pt>
                <c:pt idx="2">
                  <c:v>20-30%</c:v>
                </c:pt>
              </c:strCache>
            </c:strRef>
          </c:cat>
          <c:val>
            <c:numRef>
              <c:f>'Discount Brand vs Profir Margin'!$B$4:$B$7</c:f>
              <c:numCache>
                <c:formatCode>0.0%</c:formatCode>
                <c:ptCount val="3"/>
                <c:pt idx="0">
                  <c:v>0.4168591599991795</c:v>
                </c:pt>
                <c:pt idx="1">
                  <c:v>0.34185731972694544</c:v>
                </c:pt>
                <c:pt idx="2">
                  <c:v>0.25738441514747151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8A3-4EA1-8548-31DD423E9C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45562016"/>
        <c:axId val="1445570176"/>
      </c:barChart>
      <c:catAx>
        <c:axId val="1445562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5570176"/>
        <c:crosses val="autoZero"/>
        <c:auto val="1"/>
        <c:lblAlgn val="ctr"/>
        <c:lblOffset val="100"/>
        <c:noMultiLvlLbl val="0"/>
      </c:catAx>
      <c:valAx>
        <c:axId val="1445570176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5562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[fashionwave_sales_dataset.xlsx]Reveneue by Month &amp; Year!PivotTable6</c:name>
    <c:fmtId val="3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8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8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8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'Reveneue by Month &amp; Year'!$B$3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multiLvlStrRef>
              <c:f>'Reveneue by Month &amp; Year'!$A$4:$A$29</c:f>
              <c:multiLvlStrCache>
                <c:ptCount val="24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Apr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Aug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Dec</c:v>
                  </c:pt>
                </c:lvl>
                <c:lvl>
                  <c:pt idx="0">
                    <c:v>2023</c:v>
                  </c:pt>
                  <c:pt idx="12">
                    <c:v>2024</c:v>
                  </c:pt>
                </c:lvl>
              </c:multiLvlStrCache>
            </c:multiLvlStrRef>
          </c:cat>
          <c:val>
            <c:numRef>
              <c:f>'Reveneue by Month &amp; Year'!$B$4:$B$29</c:f>
              <c:numCache>
                <c:formatCode>General</c:formatCode>
                <c:ptCount val="24"/>
                <c:pt idx="0">
                  <c:v>208000.11699999994</c:v>
                </c:pt>
                <c:pt idx="1">
                  <c:v>121850.7945</c:v>
                </c:pt>
                <c:pt idx="2">
                  <c:v>168177.54</c:v>
                </c:pt>
                <c:pt idx="3">
                  <c:v>137406.78599999999</c:v>
                </c:pt>
                <c:pt idx="4">
                  <c:v>142096.49700000003</c:v>
                </c:pt>
                <c:pt idx="5">
                  <c:v>242540.75099999999</c:v>
                </c:pt>
                <c:pt idx="6">
                  <c:v>212820.12149999998</c:v>
                </c:pt>
                <c:pt idx="7">
                  <c:v>152416.79600000006</c:v>
                </c:pt>
                <c:pt idx="8">
                  <c:v>134848.29900000003</c:v>
                </c:pt>
                <c:pt idx="9">
                  <c:v>174884.47800000003</c:v>
                </c:pt>
                <c:pt idx="10">
                  <c:v>147508.47700000001</c:v>
                </c:pt>
                <c:pt idx="11">
                  <c:v>199801.88999999998</c:v>
                </c:pt>
                <c:pt idx="12">
                  <c:v>182735.84850000002</c:v>
                </c:pt>
                <c:pt idx="13">
                  <c:v>162539.46649999998</c:v>
                </c:pt>
                <c:pt idx="14">
                  <c:v>188062.62099999998</c:v>
                </c:pt>
                <c:pt idx="15">
                  <c:v>138950.88199999998</c:v>
                </c:pt>
                <c:pt idx="16">
                  <c:v>262771.53250000003</c:v>
                </c:pt>
                <c:pt idx="17">
                  <c:v>140267.90400000001</c:v>
                </c:pt>
                <c:pt idx="18">
                  <c:v>139299.26249999998</c:v>
                </c:pt>
                <c:pt idx="19">
                  <c:v>167152.34700000001</c:v>
                </c:pt>
                <c:pt idx="20">
                  <c:v>169681.34000000003</c:v>
                </c:pt>
                <c:pt idx="21">
                  <c:v>277592.76849999989</c:v>
                </c:pt>
                <c:pt idx="22">
                  <c:v>145414.54950000002</c:v>
                </c:pt>
                <c:pt idx="23">
                  <c:v>119635.08199999999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C22-4C5D-B7B3-C0EB5EB3C7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32221552"/>
        <c:axId val="1132205232"/>
      </c:lineChart>
      <c:catAx>
        <c:axId val="1132221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2205232"/>
        <c:crosses val="autoZero"/>
        <c:auto val="1"/>
        <c:lblAlgn val="ctr"/>
        <c:lblOffset val="100"/>
        <c:noMultiLvlLbl val="0"/>
      </c:catAx>
      <c:valAx>
        <c:axId val="11322052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22215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[fashionwave_sales_dataset.xlsx]Top 10 Revenue stores!PivotTable7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Top 10 Revenue Generating Stores</a:t>
            </a:r>
            <a:endParaRPr lang="en-IN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numFmt formatCode="&quot;₹&quot;\ #,##0.0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lumMod val="50000"/>
            </a:schemeClr>
          </a:solidFill>
          <a:ln>
            <a:noFill/>
          </a:ln>
          <a:effectLst/>
        </c:spPr>
      </c:pivotFmt>
      <c:pivotFmt>
        <c:idx val="2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</c:pivotFmt>
      <c:pivotFmt>
        <c:idx val="3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</c:pivotFmt>
      <c:pivotFmt>
        <c:idx val="4"/>
        <c:spPr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numFmt formatCode="&quot;₹&quot;\ #,##0.0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>
              <a:lumMod val="50000"/>
            </a:schemeClr>
          </a:solidFill>
          <a:ln>
            <a:noFill/>
          </a:ln>
          <a:effectLst/>
        </c:spPr>
      </c:pivotFmt>
      <c:pivotFmt>
        <c:idx val="6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</c:pivotFmt>
      <c:pivotFmt>
        <c:idx val="7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</c:pivotFmt>
      <c:pivotFmt>
        <c:idx val="8"/>
        <c:spPr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numFmt formatCode="&quot;₹&quot;\ #,##0.0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>
              <a:lumMod val="50000"/>
            </a:schemeClr>
          </a:solidFill>
          <a:ln>
            <a:noFill/>
          </a:ln>
          <a:effectLst/>
        </c:spPr>
      </c:pivotFmt>
      <c:pivotFmt>
        <c:idx val="10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</c:pivotFmt>
      <c:pivotFmt>
        <c:idx val="11"/>
        <c:spPr>
          <a:solidFill>
            <a:schemeClr val="accent1">
              <a:lumMod val="75000"/>
            </a:schemeClr>
          </a:solidFill>
          <a:ln>
            <a:noFill/>
          </a:ln>
          <a:effectLst/>
        </c:spPr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'Top 10 Revenue stores'!$B$3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545-46F2-8C3D-B8DED1B7F012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45-46F2-8C3D-B8DED1B7F01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45-46F2-8C3D-B8DED1B7F012}"/>
              </c:ext>
            </c:extLst>
          </c:dPt>
          <c:dLbls>
            <c:numFmt formatCode="&quot;₹&quot;\ 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'Top 10 Revenue stores'!$A$4:$A$13</c:f>
              <c:strCache>
                <c:ptCount val="10"/>
                <c:pt idx="0">
                  <c:v>S021</c:v>
                </c:pt>
                <c:pt idx="1">
                  <c:v>S026</c:v>
                </c:pt>
                <c:pt idx="2">
                  <c:v>S029</c:v>
                </c:pt>
                <c:pt idx="3">
                  <c:v>S049</c:v>
                </c:pt>
                <c:pt idx="4">
                  <c:v>S032</c:v>
                </c:pt>
                <c:pt idx="5">
                  <c:v>S043</c:v>
                </c:pt>
                <c:pt idx="6">
                  <c:v>S009</c:v>
                </c:pt>
                <c:pt idx="7">
                  <c:v>S034</c:v>
                </c:pt>
                <c:pt idx="8">
                  <c:v>S044</c:v>
                </c:pt>
                <c:pt idx="9">
                  <c:v>S033</c:v>
                </c:pt>
              </c:strCache>
            </c:strRef>
          </c:cat>
          <c:val>
            <c:numRef>
              <c:f>'Top 10 Revenue stores'!$B$4:$B$13</c:f>
              <c:numCache>
                <c:formatCode>"₹"\ #,##0.00</c:formatCode>
                <c:ptCount val="10"/>
                <c:pt idx="0">
                  <c:v>140938.9</c:v>
                </c:pt>
                <c:pt idx="1">
                  <c:v>136741.128</c:v>
                </c:pt>
                <c:pt idx="2">
                  <c:v>131082.0895</c:v>
                </c:pt>
                <c:pt idx="3">
                  <c:v>116978.9705</c:v>
                </c:pt>
                <c:pt idx="4">
                  <c:v>112548.00999999998</c:v>
                </c:pt>
                <c:pt idx="5">
                  <c:v>112164.61250000002</c:v>
                </c:pt>
                <c:pt idx="6">
                  <c:v>111412.73149999998</c:v>
                </c:pt>
                <c:pt idx="7">
                  <c:v>109343.9235</c:v>
                </c:pt>
                <c:pt idx="8">
                  <c:v>106021.746</c:v>
                </c:pt>
                <c:pt idx="9">
                  <c:v>103622.03900000002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545-46F2-8C3D-B8DED1B7F01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overlap val="-10"/>
        <c:axId val="1132168272"/>
        <c:axId val="1132172112"/>
      </c:barChart>
      <c:catAx>
        <c:axId val="113216827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2172112"/>
        <c:crosses val="autoZero"/>
        <c:auto val="1"/>
        <c:lblAlgn val="ctr"/>
        <c:lblOffset val="100"/>
        <c:noMultiLvlLbl val="0"/>
      </c:catAx>
      <c:valAx>
        <c:axId val="1132172112"/>
        <c:scaling>
          <c:orientation val="minMax"/>
        </c:scaling>
        <c:delete val="0"/>
        <c:axPos val="t"/>
        <c:numFmt formatCode="&quot;₹&quot;\ #,##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21682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[fashionwave_sales_dataset.xlsx]Sheet8!PivotTable8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Revenue Contribution by Customer Type</a:t>
            </a:r>
            <a:endParaRPr lang="en-IN" b="1"/>
          </a:p>
        </c:rich>
      </c:tx>
      <c:layout>
        <c:manualLayout>
          <c:xMode val="edge"/>
          <c:yMode val="edge"/>
          <c:x val="4.7900262467192158E-4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tx2">
              <a:lumMod val="50000"/>
            </a:schemeClr>
          </a:solidFill>
          <a:ln>
            <a:noFill/>
          </a:ln>
          <a:effectLst/>
        </c:spP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tx2">
              <a:lumMod val="50000"/>
            </a:schemeClr>
          </a:solidFill>
          <a:ln>
            <a:noFill/>
          </a:ln>
          <a:effectLst/>
        </c:spP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tx2">
              <a:lumMod val="50000"/>
            </a:schemeClr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Sheet8!$B$3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2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00E-4E69-A8F3-7B7076ED116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Sheet8!$A$4:$A$7</c:f>
              <c:strCache>
                <c:ptCount val="3"/>
                <c:pt idx="0">
                  <c:v>Returning</c:v>
                </c:pt>
                <c:pt idx="1">
                  <c:v>New</c:v>
                </c:pt>
                <c:pt idx="2">
                  <c:v>Unknown</c:v>
                </c:pt>
              </c:strCache>
            </c:strRef>
          </c:cat>
          <c:val>
            <c:numRef>
              <c:f>Sheet8!$B$4:$B$7</c:f>
              <c:numCache>
                <c:formatCode>"₹"\ #,##0.00</c:formatCode>
                <c:ptCount val="3"/>
                <c:pt idx="0">
                  <c:v>1497268.7735000004</c:v>
                </c:pt>
                <c:pt idx="1">
                  <c:v>1369516.4</c:v>
                </c:pt>
                <c:pt idx="2">
                  <c:v>1269670.9774999991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00E-4E69-A8F3-7B7076ED11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32186032"/>
        <c:axId val="1132186512"/>
      </c:barChart>
      <c:catAx>
        <c:axId val="11321860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2186512"/>
        <c:crosses val="autoZero"/>
        <c:auto val="1"/>
        <c:lblAlgn val="ctr"/>
        <c:lblOffset val="100"/>
        <c:noMultiLvlLbl val="0"/>
      </c:catAx>
      <c:valAx>
        <c:axId val="1132186512"/>
        <c:scaling>
          <c:orientation val="minMax"/>
        </c:scaling>
        <c:delete val="0"/>
        <c:axPos val="l"/>
        <c:numFmt formatCode="&quot;₹&quot;\ 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21860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A4AFA3-FE64-433F-9508-1282C1B8C816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AC55E55-9F06-4965-9ED4-0DB7312583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Key Insights </a:t>
          </a:r>
          <a:endParaRPr lang="en-US"/>
        </a:p>
      </dgm:t>
    </dgm:pt>
    <dgm:pt modelId="{1CC90FDA-8A21-49D5-A5F1-C2C291A90204}" type="parTrans" cxnId="{F63ACE41-3325-4009-9511-FFC966346FA2}">
      <dgm:prSet/>
      <dgm:spPr/>
      <dgm:t>
        <a:bodyPr/>
        <a:lstStyle/>
        <a:p>
          <a:endParaRPr lang="en-US"/>
        </a:p>
      </dgm:t>
    </dgm:pt>
    <dgm:pt modelId="{0FE89601-85B8-4E68-808A-60FD0D9764B0}" type="sibTrans" cxnId="{F63ACE41-3325-4009-9511-FFC966346FA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EECB0D2-6EBE-43B3-86BE-FD15B42DD2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Profit margin across categories is quite close, but still varies between about </a:t>
          </a:r>
          <a:r>
            <a:rPr lang="en-US" b="1" dirty="0"/>
            <a:t>34% to 37%</a:t>
          </a:r>
          <a:r>
            <a:rPr lang="en-US" dirty="0"/>
            <a:t>, which shows that pricing or cost structure differs slightly by category.</a:t>
          </a:r>
        </a:p>
      </dgm:t>
    </dgm:pt>
    <dgm:pt modelId="{F1AABC6D-8EC9-4B42-9642-36BEC0985F84}" type="parTrans" cxnId="{BB69A8A4-E333-4DE2-956C-DD3057A97F7D}">
      <dgm:prSet/>
      <dgm:spPr/>
      <dgm:t>
        <a:bodyPr/>
        <a:lstStyle/>
        <a:p>
          <a:endParaRPr lang="en-US"/>
        </a:p>
      </dgm:t>
    </dgm:pt>
    <dgm:pt modelId="{29D2EE47-6ADF-4B77-82DD-CEA06DF0F1A8}" type="sibTrans" cxnId="{BB69A8A4-E333-4DE2-956C-DD3057A97F7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65528FB-AC24-4142-88A4-167FB6FB5B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Footwear and Tops are strong in terms of sales volume, but they are not the most efficient when we look at profitability.</a:t>
          </a:r>
        </a:p>
      </dgm:t>
    </dgm:pt>
    <dgm:pt modelId="{B4D63BA3-145B-4FAA-8C7B-15F9DAD7D664}" type="parTrans" cxnId="{F2FFEEB1-7566-44C0-8029-5E624125C6F4}">
      <dgm:prSet/>
      <dgm:spPr/>
      <dgm:t>
        <a:bodyPr/>
        <a:lstStyle/>
        <a:p>
          <a:endParaRPr lang="en-US"/>
        </a:p>
      </dgm:t>
    </dgm:pt>
    <dgm:pt modelId="{D9E206DF-03F1-44F9-B4FF-9AF8937975C9}" type="sibTrans" cxnId="{F2FFEEB1-7566-44C0-8029-5E624125C6F4}">
      <dgm:prSet/>
      <dgm:spPr/>
      <dgm:t>
        <a:bodyPr/>
        <a:lstStyle/>
        <a:p>
          <a:endParaRPr lang="en-US"/>
        </a:p>
      </dgm:t>
    </dgm:pt>
    <dgm:pt modelId="{B2374F57-2C99-4EFB-BA7B-BCE17312349D}" type="pres">
      <dgm:prSet presAssocID="{5CA4AFA3-FE64-433F-9508-1282C1B8C816}" presName="root" presStyleCnt="0">
        <dgm:presLayoutVars>
          <dgm:dir/>
          <dgm:resizeHandles val="exact"/>
        </dgm:presLayoutVars>
      </dgm:prSet>
      <dgm:spPr/>
    </dgm:pt>
    <dgm:pt modelId="{92AFED4B-8C1E-48CB-B919-FB4823AF0935}" type="pres">
      <dgm:prSet presAssocID="{5CA4AFA3-FE64-433F-9508-1282C1B8C816}" presName="container" presStyleCnt="0">
        <dgm:presLayoutVars>
          <dgm:dir/>
          <dgm:resizeHandles val="exact"/>
        </dgm:presLayoutVars>
      </dgm:prSet>
      <dgm:spPr/>
    </dgm:pt>
    <dgm:pt modelId="{0C09192A-2478-4B09-AD98-072BBD39DD6E}" type="pres">
      <dgm:prSet presAssocID="{6AC55E55-9F06-4965-9ED4-0DB731258391}" presName="compNode" presStyleCnt="0"/>
      <dgm:spPr/>
    </dgm:pt>
    <dgm:pt modelId="{8870AEF4-FD8B-4F47-B3C5-E8D2A7E3AD7D}" type="pres">
      <dgm:prSet presAssocID="{6AC55E55-9F06-4965-9ED4-0DB731258391}" presName="iconBgRect" presStyleLbl="bgShp" presStyleIdx="0" presStyleCnt="3"/>
      <dgm:spPr/>
    </dgm:pt>
    <dgm:pt modelId="{8C589C6A-ADF1-4D4F-A9AC-249AE8B95EE2}" type="pres">
      <dgm:prSet presAssocID="{6AC55E55-9F06-4965-9ED4-0DB73125839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BAD7B42A-E7FF-4507-9262-33D09E0DB40E}" type="pres">
      <dgm:prSet presAssocID="{6AC55E55-9F06-4965-9ED4-0DB731258391}" presName="spaceRect" presStyleCnt="0"/>
      <dgm:spPr/>
    </dgm:pt>
    <dgm:pt modelId="{D1FD1D5D-C6FD-4287-AD73-DCBF010111FF}" type="pres">
      <dgm:prSet presAssocID="{6AC55E55-9F06-4965-9ED4-0DB731258391}" presName="textRect" presStyleLbl="revTx" presStyleIdx="0" presStyleCnt="3">
        <dgm:presLayoutVars>
          <dgm:chMax val="1"/>
          <dgm:chPref val="1"/>
        </dgm:presLayoutVars>
      </dgm:prSet>
      <dgm:spPr/>
    </dgm:pt>
    <dgm:pt modelId="{BCAB3D28-5AF7-46A4-B471-7E2B54108265}" type="pres">
      <dgm:prSet presAssocID="{0FE89601-85B8-4E68-808A-60FD0D9764B0}" presName="sibTrans" presStyleLbl="sibTrans2D1" presStyleIdx="0" presStyleCnt="0"/>
      <dgm:spPr/>
    </dgm:pt>
    <dgm:pt modelId="{2C18BDF1-0AB0-4686-BEE8-B8348BD8A2F6}" type="pres">
      <dgm:prSet presAssocID="{AEECB0D2-6EBE-43B3-86BE-FD15B42DD272}" presName="compNode" presStyleCnt="0"/>
      <dgm:spPr/>
    </dgm:pt>
    <dgm:pt modelId="{09FA6351-ADBB-490B-84E7-B54B6AA06545}" type="pres">
      <dgm:prSet presAssocID="{AEECB0D2-6EBE-43B3-86BE-FD15B42DD272}" presName="iconBgRect" presStyleLbl="bgShp" presStyleIdx="1" presStyleCnt="3"/>
      <dgm:spPr/>
    </dgm:pt>
    <dgm:pt modelId="{121A892A-5E70-41A2-AE3C-07A28DA76AA7}" type="pres">
      <dgm:prSet presAssocID="{AEECB0D2-6EBE-43B3-86BE-FD15B42DD27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06832826-58D7-460D-8FDA-412755321576}" type="pres">
      <dgm:prSet presAssocID="{AEECB0D2-6EBE-43B3-86BE-FD15B42DD272}" presName="spaceRect" presStyleCnt="0"/>
      <dgm:spPr/>
    </dgm:pt>
    <dgm:pt modelId="{F384CE89-8E7A-4488-9A84-23E6B2B096AF}" type="pres">
      <dgm:prSet presAssocID="{AEECB0D2-6EBE-43B3-86BE-FD15B42DD272}" presName="textRect" presStyleLbl="revTx" presStyleIdx="1" presStyleCnt="3">
        <dgm:presLayoutVars>
          <dgm:chMax val="1"/>
          <dgm:chPref val="1"/>
        </dgm:presLayoutVars>
      </dgm:prSet>
      <dgm:spPr/>
    </dgm:pt>
    <dgm:pt modelId="{7044BC71-1A15-4E09-96C5-C1179F637CE5}" type="pres">
      <dgm:prSet presAssocID="{29D2EE47-6ADF-4B77-82DD-CEA06DF0F1A8}" presName="sibTrans" presStyleLbl="sibTrans2D1" presStyleIdx="0" presStyleCnt="0"/>
      <dgm:spPr/>
    </dgm:pt>
    <dgm:pt modelId="{AE1E4BFF-8A26-428D-9171-9E5B104D7699}" type="pres">
      <dgm:prSet presAssocID="{965528FB-AC24-4142-88A4-167FB6FB5B91}" presName="compNode" presStyleCnt="0"/>
      <dgm:spPr/>
    </dgm:pt>
    <dgm:pt modelId="{BAC25DA1-FAAF-4BD7-836F-44B07F2C88E6}" type="pres">
      <dgm:prSet presAssocID="{965528FB-AC24-4142-88A4-167FB6FB5B91}" presName="iconBgRect" presStyleLbl="bgShp" presStyleIdx="2" presStyleCnt="3"/>
      <dgm:spPr/>
    </dgm:pt>
    <dgm:pt modelId="{F5674EC5-C583-4710-B1A5-B49F9A4033AD}" type="pres">
      <dgm:prSet presAssocID="{965528FB-AC24-4142-88A4-167FB6FB5B9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oe"/>
        </a:ext>
      </dgm:extLst>
    </dgm:pt>
    <dgm:pt modelId="{A166D6C3-2227-496C-8000-D821397695C9}" type="pres">
      <dgm:prSet presAssocID="{965528FB-AC24-4142-88A4-167FB6FB5B91}" presName="spaceRect" presStyleCnt="0"/>
      <dgm:spPr/>
    </dgm:pt>
    <dgm:pt modelId="{F2D6AADE-8411-4C35-B0DC-C3C85C22F9AF}" type="pres">
      <dgm:prSet presAssocID="{965528FB-AC24-4142-88A4-167FB6FB5B9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2A1BF1C-DFC2-4918-997C-091156D8C66C}" type="presOf" srcId="{0FE89601-85B8-4E68-808A-60FD0D9764B0}" destId="{BCAB3D28-5AF7-46A4-B471-7E2B54108265}" srcOrd="0" destOrd="0" presId="urn:microsoft.com/office/officeart/2018/2/layout/IconCircleList"/>
    <dgm:cxn modelId="{5A3D2A2B-0852-466E-A84A-37270719268B}" type="presOf" srcId="{6AC55E55-9F06-4965-9ED4-0DB731258391}" destId="{D1FD1D5D-C6FD-4287-AD73-DCBF010111FF}" srcOrd="0" destOrd="0" presId="urn:microsoft.com/office/officeart/2018/2/layout/IconCircleList"/>
    <dgm:cxn modelId="{F63ACE41-3325-4009-9511-FFC966346FA2}" srcId="{5CA4AFA3-FE64-433F-9508-1282C1B8C816}" destId="{6AC55E55-9F06-4965-9ED4-0DB731258391}" srcOrd="0" destOrd="0" parTransId="{1CC90FDA-8A21-49D5-A5F1-C2C291A90204}" sibTransId="{0FE89601-85B8-4E68-808A-60FD0D9764B0}"/>
    <dgm:cxn modelId="{77E1CC78-9140-4CE8-B376-1F460440231D}" type="presOf" srcId="{965528FB-AC24-4142-88A4-167FB6FB5B91}" destId="{F2D6AADE-8411-4C35-B0DC-C3C85C22F9AF}" srcOrd="0" destOrd="0" presId="urn:microsoft.com/office/officeart/2018/2/layout/IconCircleList"/>
    <dgm:cxn modelId="{3496E87A-481A-4F0C-BF40-035BA6F7D004}" type="presOf" srcId="{5CA4AFA3-FE64-433F-9508-1282C1B8C816}" destId="{B2374F57-2C99-4EFB-BA7B-BCE17312349D}" srcOrd="0" destOrd="0" presId="urn:microsoft.com/office/officeart/2018/2/layout/IconCircleList"/>
    <dgm:cxn modelId="{C3E3A8A2-283D-47B4-863D-0399D6096290}" type="presOf" srcId="{AEECB0D2-6EBE-43B3-86BE-FD15B42DD272}" destId="{F384CE89-8E7A-4488-9A84-23E6B2B096AF}" srcOrd="0" destOrd="0" presId="urn:microsoft.com/office/officeart/2018/2/layout/IconCircleList"/>
    <dgm:cxn modelId="{BB69A8A4-E333-4DE2-956C-DD3057A97F7D}" srcId="{5CA4AFA3-FE64-433F-9508-1282C1B8C816}" destId="{AEECB0D2-6EBE-43B3-86BE-FD15B42DD272}" srcOrd="1" destOrd="0" parTransId="{F1AABC6D-8EC9-4B42-9642-36BEC0985F84}" sibTransId="{29D2EE47-6ADF-4B77-82DD-CEA06DF0F1A8}"/>
    <dgm:cxn modelId="{F2FFEEB1-7566-44C0-8029-5E624125C6F4}" srcId="{5CA4AFA3-FE64-433F-9508-1282C1B8C816}" destId="{965528FB-AC24-4142-88A4-167FB6FB5B91}" srcOrd="2" destOrd="0" parTransId="{B4D63BA3-145B-4FAA-8C7B-15F9DAD7D664}" sibTransId="{D9E206DF-03F1-44F9-B4FF-9AF8937975C9}"/>
    <dgm:cxn modelId="{73BF95F0-4229-4941-997D-F4B795BA66DD}" type="presOf" srcId="{29D2EE47-6ADF-4B77-82DD-CEA06DF0F1A8}" destId="{7044BC71-1A15-4E09-96C5-C1179F637CE5}" srcOrd="0" destOrd="0" presId="urn:microsoft.com/office/officeart/2018/2/layout/IconCircleList"/>
    <dgm:cxn modelId="{61E164B5-215E-4D44-9569-EB46CF03B4F8}" type="presParOf" srcId="{B2374F57-2C99-4EFB-BA7B-BCE17312349D}" destId="{92AFED4B-8C1E-48CB-B919-FB4823AF0935}" srcOrd="0" destOrd="0" presId="urn:microsoft.com/office/officeart/2018/2/layout/IconCircleList"/>
    <dgm:cxn modelId="{0717C6B6-8EA3-465D-B4AB-34DDD7107976}" type="presParOf" srcId="{92AFED4B-8C1E-48CB-B919-FB4823AF0935}" destId="{0C09192A-2478-4B09-AD98-072BBD39DD6E}" srcOrd="0" destOrd="0" presId="urn:microsoft.com/office/officeart/2018/2/layout/IconCircleList"/>
    <dgm:cxn modelId="{717B5C01-1762-4CCE-ADB5-672D57B7D9DD}" type="presParOf" srcId="{0C09192A-2478-4B09-AD98-072BBD39DD6E}" destId="{8870AEF4-FD8B-4F47-B3C5-E8D2A7E3AD7D}" srcOrd="0" destOrd="0" presId="urn:microsoft.com/office/officeart/2018/2/layout/IconCircleList"/>
    <dgm:cxn modelId="{A054BF16-DEE6-4811-9239-72F3D1FDBB08}" type="presParOf" srcId="{0C09192A-2478-4B09-AD98-072BBD39DD6E}" destId="{8C589C6A-ADF1-4D4F-A9AC-249AE8B95EE2}" srcOrd="1" destOrd="0" presId="urn:microsoft.com/office/officeart/2018/2/layout/IconCircleList"/>
    <dgm:cxn modelId="{4B200D5A-A2CF-440C-BADD-5589A360A84D}" type="presParOf" srcId="{0C09192A-2478-4B09-AD98-072BBD39DD6E}" destId="{BAD7B42A-E7FF-4507-9262-33D09E0DB40E}" srcOrd="2" destOrd="0" presId="urn:microsoft.com/office/officeart/2018/2/layout/IconCircleList"/>
    <dgm:cxn modelId="{91D7B00C-8A1C-42EE-8507-EC859DE1722C}" type="presParOf" srcId="{0C09192A-2478-4B09-AD98-072BBD39DD6E}" destId="{D1FD1D5D-C6FD-4287-AD73-DCBF010111FF}" srcOrd="3" destOrd="0" presId="urn:microsoft.com/office/officeart/2018/2/layout/IconCircleList"/>
    <dgm:cxn modelId="{56B6601B-9E10-4061-9C21-8EEDEF897F48}" type="presParOf" srcId="{92AFED4B-8C1E-48CB-B919-FB4823AF0935}" destId="{BCAB3D28-5AF7-46A4-B471-7E2B54108265}" srcOrd="1" destOrd="0" presId="urn:microsoft.com/office/officeart/2018/2/layout/IconCircleList"/>
    <dgm:cxn modelId="{9D5E76A3-8031-4D1B-B5A4-36CDB90EF6D3}" type="presParOf" srcId="{92AFED4B-8C1E-48CB-B919-FB4823AF0935}" destId="{2C18BDF1-0AB0-4686-BEE8-B8348BD8A2F6}" srcOrd="2" destOrd="0" presId="urn:microsoft.com/office/officeart/2018/2/layout/IconCircleList"/>
    <dgm:cxn modelId="{4DA84ACB-7823-4573-BBF3-8446C40C2E39}" type="presParOf" srcId="{2C18BDF1-0AB0-4686-BEE8-B8348BD8A2F6}" destId="{09FA6351-ADBB-490B-84E7-B54B6AA06545}" srcOrd="0" destOrd="0" presId="urn:microsoft.com/office/officeart/2018/2/layout/IconCircleList"/>
    <dgm:cxn modelId="{323084CB-0F54-4382-BFA9-AA95E8D4E5D2}" type="presParOf" srcId="{2C18BDF1-0AB0-4686-BEE8-B8348BD8A2F6}" destId="{121A892A-5E70-41A2-AE3C-07A28DA76AA7}" srcOrd="1" destOrd="0" presId="urn:microsoft.com/office/officeart/2018/2/layout/IconCircleList"/>
    <dgm:cxn modelId="{5CECF9B0-01BC-41B9-B489-10CE78AAD5E3}" type="presParOf" srcId="{2C18BDF1-0AB0-4686-BEE8-B8348BD8A2F6}" destId="{06832826-58D7-460D-8FDA-412755321576}" srcOrd="2" destOrd="0" presId="urn:microsoft.com/office/officeart/2018/2/layout/IconCircleList"/>
    <dgm:cxn modelId="{1EAD8E10-5679-49FF-BAD2-596A06B3ADF8}" type="presParOf" srcId="{2C18BDF1-0AB0-4686-BEE8-B8348BD8A2F6}" destId="{F384CE89-8E7A-4488-9A84-23E6B2B096AF}" srcOrd="3" destOrd="0" presId="urn:microsoft.com/office/officeart/2018/2/layout/IconCircleList"/>
    <dgm:cxn modelId="{4F510A98-908C-4A38-9D79-94AB6FC08259}" type="presParOf" srcId="{92AFED4B-8C1E-48CB-B919-FB4823AF0935}" destId="{7044BC71-1A15-4E09-96C5-C1179F637CE5}" srcOrd="3" destOrd="0" presId="urn:microsoft.com/office/officeart/2018/2/layout/IconCircleList"/>
    <dgm:cxn modelId="{5413447E-4B6E-44E7-BDC0-9BB5EE43107A}" type="presParOf" srcId="{92AFED4B-8C1E-48CB-B919-FB4823AF0935}" destId="{AE1E4BFF-8A26-428D-9171-9E5B104D7699}" srcOrd="4" destOrd="0" presId="urn:microsoft.com/office/officeart/2018/2/layout/IconCircleList"/>
    <dgm:cxn modelId="{99C1E123-A374-4309-B2FC-AE847CF73CE2}" type="presParOf" srcId="{AE1E4BFF-8A26-428D-9171-9E5B104D7699}" destId="{BAC25DA1-FAAF-4BD7-836F-44B07F2C88E6}" srcOrd="0" destOrd="0" presId="urn:microsoft.com/office/officeart/2018/2/layout/IconCircleList"/>
    <dgm:cxn modelId="{1BCCC245-66D5-4F87-B8F6-1BF037DC28F5}" type="presParOf" srcId="{AE1E4BFF-8A26-428D-9171-9E5B104D7699}" destId="{F5674EC5-C583-4710-B1A5-B49F9A4033AD}" srcOrd="1" destOrd="0" presId="urn:microsoft.com/office/officeart/2018/2/layout/IconCircleList"/>
    <dgm:cxn modelId="{91707FDE-5E7C-44B1-92EA-14FEE3C0AC06}" type="presParOf" srcId="{AE1E4BFF-8A26-428D-9171-9E5B104D7699}" destId="{A166D6C3-2227-496C-8000-D821397695C9}" srcOrd="2" destOrd="0" presId="urn:microsoft.com/office/officeart/2018/2/layout/IconCircleList"/>
    <dgm:cxn modelId="{9D3AF2CD-F3AF-4276-91B1-9F2AFF2D7846}" type="presParOf" srcId="{AE1E4BFF-8A26-428D-9171-9E5B104D7699}" destId="{F2D6AADE-8411-4C35-B0DC-C3C85C22F9A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70AEF4-FD8B-4F47-B3C5-E8D2A7E3AD7D}">
      <dsp:nvSpPr>
        <dsp:cNvPr id="0" name=""/>
        <dsp:cNvSpPr/>
      </dsp:nvSpPr>
      <dsp:spPr>
        <a:xfrm>
          <a:off x="1665491" y="513208"/>
          <a:ext cx="604800" cy="6048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589C6A-ADF1-4D4F-A9AC-249AE8B95EE2}">
      <dsp:nvSpPr>
        <dsp:cNvPr id="0" name=""/>
        <dsp:cNvSpPr/>
      </dsp:nvSpPr>
      <dsp:spPr>
        <a:xfrm>
          <a:off x="1792499" y="640216"/>
          <a:ext cx="350784" cy="3507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FD1D5D-C6FD-4287-AD73-DCBF010111FF}">
      <dsp:nvSpPr>
        <dsp:cNvPr id="0" name=""/>
        <dsp:cNvSpPr/>
      </dsp:nvSpPr>
      <dsp:spPr>
        <a:xfrm>
          <a:off x="2399891" y="513208"/>
          <a:ext cx="1425599" cy="60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Key Insights </a:t>
          </a:r>
          <a:endParaRPr lang="en-US" sz="1100" kern="1200"/>
        </a:p>
      </dsp:txBody>
      <dsp:txXfrm>
        <a:off x="2399891" y="513208"/>
        <a:ext cx="1425599" cy="604800"/>
      </dsp:txXfrm>
    </dsp:sp>
    <dsp:sp modelId="{09FA6351-ADBB-490B-84E7-B54B6AA06545}">
      <dsp:nvSpPr>
        <dsp:cNvPr id="0" name=""/>
        <dsp:cNvSpPr/>
      </dsp:nvSpPr>
      <dsp:spPr>
        <a:xfrm>
          <a:off x="4073891" y="513208"/>
          <a:ext cx="604800" cy="6048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1A892A-5E70-41A2-AE3C-07A28DA76AA7}">
      <dsp:nvSpPr>
        <dsp:cNvPr id="0" name=""/>
        <dsp:cNvSpPr/>
      </dsp:nvSpPr>
      <dsp:spPr>
        <a:xfrm>
          <a:off x="4200899" y="640216"/>
          <a:ext cx="350784" cy="3507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84CE89-8E7A-4488-9A84-23E6B2B096AF}">
      <dsp:nvSpPr>
        <dsp:cNvPr id="0" name=""/>
        <dsp:cNvSpPr/>
      </dsp:nvSpPr>
      <dsp:spPr>
        <a:xfrm>
          <a:off x="4808291" y="513208"/>
          <a:ext cx="1425599" cy="60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Profit margin across categories is quite close, but still varies between about </a:t>
          </a:r>
          <a:r>
            <a:rPr lang="en-US" sz="1100" b="1" kern="1200" dirty="0"/>
            <a:t>34% to 37%</a:t>
          </a:r>
          <a:r>
            <a:rPr lang="en-US" sz="1100" kern="1200" dirty="0"/>
            <a:t>, which shows that pricing or cost structure differs slightly by category.</a:t>
          </a:r>
        </a:p>
      </dsp:txBody>
      <dsp:txXfrm>
        <a:off x="4808291" y="513208"/>
        <a:ext cx="1425599" cy="604800"/>
      </dsp:txXfrm>
    </dsp:sp>
    <dsp:sp modelId="{BAC25DA1-FAAF-4BD7-836F-44B07F2C88E6}">
      <dsp:nvSpPr>
        <dsp:cNvPr id="0" name=""/>
        <dsp:cNvSpPr/>
      </dsp:nvSpPr>
      <dsp:spPr>
        <a:xfrm>
          <a:off x="6482291" y="513208"/>
          <a:ext cx="604800" cy="6048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674EC5-C583-4710-B1A5-B49F9A4033AD}">
      <dsp:nvSpPr>
        <dsp:cNvPr id="0" name=""/>
        <dsp:cNvSpPr/>
      </dsp:nvSpPr>
      <dsp:spPr>
        <a:xfrm>
          <a:off x="6609299" y="640216"/>
          <a:ext cx="350784" cy="3507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D6AADE-8411-4C35-B0DC-C3C85C22F9AF}">
      <dsp:nvSpPr>
        <dsp:cNvPr id="0" name=""/>
        <dsp:cNvSpPr/>
      </dsp:nvSpPr>
      <dsp:spPr>
        <a:xfrm>
          <a:off x="7216691" y="513208"/>
          <a:ext cx="1425599" cy="60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Footwear and Tops are strong in terms of sales volume, but they are not the most efficient when we look at profitability.</a:t>
          </a:r>
        </a:p>
      </dsp:txBody>
      <dsp:txXfrm>
        <a:off x="7216691" y="513208"/>
        <a:ext cx="1425599" cy="604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8A0EB-801A-41A2-B404-E927DE830F4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E546C-CCF7-4344-98BC-63596B1FA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546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8A0EB-801A-41A2-B404-E927DE830F4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E546C-CCF7-4344-98BC-63596B1FA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213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8A0EB-801A-41A2-B404-E927DE830F4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E546C-CCF7-4344-98BC-63596B1FA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457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8A0EB-801A-41A2-B404-E927DE830F4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E546C-CCF7-4344-98BC-63596B1FA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028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8A0EB-801A-41A2-B404-E927DE830F4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E546C-CCF7-4344-98BC-63596B1FA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705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8A0EB-801A-41A2-B404-E927DE830F4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E546C-CCF7-4344-98BC-63596B1FA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860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8A0EB-801A-41A2-B404-E927DE830F4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E546C-CCF7-4344-98BC-63596B1FA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883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8A0EB-801A-41A2-B404-E927DE830F4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E546C-CCF7-4344-98BC-63596B1FA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137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8A0EB-801A-41A2-B404-E927DE830F4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E546C-CCF7-4344-98BC-63596B1FA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740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8A0EB-801A-41A2-B404-E927DE830F4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E546C-CCF7-4344-98BC-63596B1FA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605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8A0EB-801A-41A2-B404-E927DE830F4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E546C-CCF7-4344-98BC-63596B1FA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061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18A0EB-801A-41A2-B404-E927DE830F4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E546C-CCF7-4344-98BC-63596B1FA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63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erson pointing at paper">
            <a:extLst>
              <a:ext uri="{FF2B5EF4-FFF2-40B4-BE49-F238E27FC236}">
                <a16:creationId xmlns:a16="http://schemas.microsoft.com/office/drawing/2014/main" id="{38C22D05-FADC-7AC6-C8CE-6B9B263BA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4408" y="0"/>
            <a:ext cx="15612025" cy="71976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3C14E3-128B-2150-9E45-956DC18957F8}"/>
              </a:ext>
            </a:extLst>
          </p:cNvPr>
          <p:cNvSpPr txBox="1"/>
          <p:nvPr/>
        </p:nvSpPr>
        <p:spPr>
          <a:xfrm>
            <a:off x="-1739057" y="5750004"/>
            <a:ext cx="6675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Fashion Wave Retail Sales Performance Analysis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Business Data Analysis Project (Excel)</a:t>
            </a:r>
          </a:p>
          <a:p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2E185F-00F7-CBE3-9EF3-E7B40A77621F}"/>
              </a:ext>
            </a:extLst>
          </p:cNvPr>
          <p:cNvSpPr txBox="1"/>
          <p:nvPr/>
        </p:nvSpPr>
        <p:spPr>
          <a:xfrm>
            <a:off x="-1739057" y="6373392"/>
            <a:ext cx="774496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Analyzing sales performance, customer behavior, discount impact, and store efficiency to support data-driven business decisions.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C390F6-010E-06EF-6EBF-035745B30F9D}"/>
              </a:ext>
            </a:extLst>
          </p:cNvPr>
          <p:cNvSpPr txBox="1"/>
          <p:nvPr/>
        </p:nvSpPr>
        <p:spPr>
          <a:xfrm>
            <a:off x="9893808" y="6211669"/>
            <a:ext cx="3139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Pramitava Das</a:t>
            </a:r>
            <a:br>
              <a:rPr lang="en-IN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0162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F8AAB6-08EF-F77A-5EA9-76B2318BABE9}"/>
              </a:ext>
            </a:extLst>
          </p:cNvPr>
          <p:cNvSpPr txBox="1"/>
          <p:nvPr/>
        </p:nvSpPr>
        <p:spPr>
          <a:xfrm>
            <a:off x="1042416" y="493776"/>
            <a:ext cx="10552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50000"/>
                  </a:schemeClr>
                </a:solidFill>
              </a:rPr>
              <a:t>Introduction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985212C-37EB-23E0-0AFB-39E953E9FCB9}"/>
              </a:ext>
            </a:extLst>
          </p:cNvPr>
          <p:cNvCxnSpPr>
            <a:cxnSpLocks/>
          </p:cNvCxnSpPr>
          <p:nvPr/>
        </p:nvCxnSpPr>
        <p:spPr>
          <a:xfrm>
            <a:off x="1234440" y="1078551"/>
            <a:ext cx="0" cy="346601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5230C5E-A9E0-EA50-088E-4C84BAF96CD0}"/>
              </a:ext>
            </a:extLst>
          </p:cNvPr>
          <p:cNvSpPr txBox="1"/>
          <p:nvPr/>
        </p:nvSpPr>
        <p:spPr>
          <a:xfrm>
            <a:off x="1298448" y="1136070"/>
            <a:ext cx="900683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• Fashion Wave is a retail brand with around 50 stores across India</a:t>
            </a:r>
            <a:br>
              <a:rPr lang="en-US" sz="2000" dirty="0"/>
            </a:br>
            <a:r>
              <a:rPr lang="en-US" sz="2000" dirty="0"/>
              <a:t>• Company noticed weekday sales are stable, but weekend sales are not growing</a:t>
            </a:r>
            <a:br>
              <a:rPr lang="en-US" sz="2000" dirty="0"/>
            </a:br>
            <a:r>
              <a:rPr lang="en-US" sz="2000" dirty="0"/>
              <a:t>• Weekends should ideally bring higher revenue → but this is not happening</a:t>
            </a:r>
            <a:br>
              <a:rPr lang="en-US" sz="2000" dirty="0"/>
            </a:br>
            <a:r>
              <a:rPr lang="en-US" sz="2000" dirty="0"/>
              <a:t>• Management wants to understand product performance and discount impact</a:t>
            </a:r>
            <a:br>
              <a:rPr lang="en-US" sz="2000" dirty="0"/>
            </a:br>
            <a:r>
              <a:rPr lang="en-US" sz="2000" dirty="0"/>
              <a:t>• Main goal of this project → improve weekend sales and overall profitability</a:t>
            </a:r>
            <a:br>
              <a:rPr lang="en-US" sz="2000" dirty="0"/>
            </a:br>
            <a:r>
              <a:rPr lang="en-US" sz="2000" dirty="0"/>
              <a:t>• My role → analyze last 2 years sales data and find practical business insights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48595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5E37A2-B52A-CF7B-9768-D1B7B731C4FA}"/>
              </a:ext>
            </a:extLst>
          </p:cNvPr>
          <p:cNvSpPr txBox="1"/>
          <p:nvPr/>
        </p:nvSpPr>
        <p:spPr>
          <a:xfrm>
            <a:off x="1225296" y="813816"/>
            <a:ext cx="97017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50000"/>
                  </a:schemeClr>
                </a:solidFill>
              </a:rPr>
              <a:t>EDA Overview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66C586D-D499-873E-9498-02F2DDF1711F}"/>
              </a:ext>
            </a:extLst>
          </p:cNvPr>
          <p:cNvCxnSpPr>
            <a:cxnSpLocks/>
          </p:cNvCxnSpPr>
          <p:nvPr/>
        </p:nvCxnSpPr>
        <p:spPr>
          <a:xfrm>
            <a:off x="1426464" y="1398591"/>
            <a:ext cx="0" cy="346601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B026BC5-C9AF-76A4-D81D-A673E94DD2B4}"/>
              </a:ext>
            </a:extLst>
          </p:cNvPr>
          <p:cNvSpPr txBox="1"/>
          <p:nvPr/>
        </p:nvSpPr>
        <p:spPr>
          <a:xfrm>
            <a:off x="1572768" y="1536192"/>
            <a:ext cx="93543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• First step was checking data quality and cleaning missing values</a:t>
            </a:r>
            <a:br>
              <a:rPr lang="en-US" sz="2000" dirty="0"/>
            </a:br>
            <a:r>
              <a:rPr lang="en-US" sz="2000" dirty="0"/>
              <a:t>• Some missing data found in Discount and Customer Type columns</a:t>
            </a:r>
            <a:br>
              <a:rPr lang="en-US" sz="2000" dirty="0"/>
            </a:br>
            <a:r>
              <a:rPr lang="en-US" sz="2000" dirty="0"/>
              <a:t>• Analyzed weekend vs weekday sales trend</a:t>
            </a:r>
            <a:br>
              <a:rPr lang="en-US" sz="2000" dirty="0"/>
            </a:br>
            <a:r>
              <a:rPr lang="en-US" sz="2000" dirty="0"/>
              <a:t>• Compared revenue and profit across product categories</a:t>
            </a:r>
            <a:br>
              <a:rPr lang="en-US" sz="2000" dirty="0"/>
            </a:br>
            <a:r>
              <a:rPr lang="en-US" sz="2000" dirty="0"/>
              <a:t>• Studied how discounts affect sales and profit margin</a:t>
            </a:r>
            <a:br>
              <a:rPr lang="en-US" sz="2000" dirty="0"/>
            </a:br>
            <a:r>
              <a:rPr lang="en-US" sz="2000" dirty="0"/>
              <a:t>• Checked store-wise performance to find weak stores</a:t>
            </a:r>
            <a:br>
              <a:rPr lang="en-US" sz="2000" dirty="0"/>
            </a:br>
            <a:r>
              <a:rPr lang="en-US" sz="2000" dirty="0"/>
              <a:t>• Used charts like bar chart, line chart, combo chart for better understanding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82739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F58BF4-FCA5-6298-1EA7-5042829E3B39}"/>
              </a:ext>
            </a:extLst>
          </p:cNvPr>
          <p:cNvSpPr txBox="1"/>
          <p:nvPr/>
        </p:nvSpPr>
        <p:spPr>
          <a:xfrm>
            <a:off x="1444752" y="685800"/>
            <a:ext cx="88148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50000"/>
                  </a:schemeClr>
                </a:solidFill>
              </a:rPr>
              <a:t>Statistical Findings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E09546-EDB1-4284-75A5-D040EBF678E3}"/>
              </a:ext>
            </a:extLst>
          </p:cNvPr>
          <p:cNvCxnSpPr>
            <a:cxnSpLocks/>
          </p:cNvCxnSpPr>
          <p:nvPr/>
        </p:nvCxnSpPr>
        <p:spPr>
          <a:xfrm>
            <a:off x="1636776" y="1270575"/>
            <a:ext cx="0" cy="346601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47E7829-3C80-7BDD-11A9-B56C83D976D3}"/>
              </a:ext>
            </a:extLst>
          </p:cNvPr>
          <p:cNvSpPr txBox="1"/>
          <p:nvPr/>
        </p:nvSpPr>
        <p:spPr>
          <a:xfrm>
            <a:off x="1732789" y="1453896"/>
            <a:ext cx="84307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Weekend sales contribution is lower compared to weekdays</a:t>
            </a:r>
            <a:br>
              <a:rPr lang="en-US" dirty="0"/>
            </a:br>
            <a:r>
              <a:rPr lang="en-US" dirty="0"/>
              <a:t>• Some categories generate high sales but low profit due to heavy discounts</a:t>
            </a:r>
            <a:br>
              <a:rPr lang="en-US" dirty="0"/>
            </a:br>
            <a:r>
              <a:rPr lang="en-US" dirty="0"/>
              <a:t>• Moderate discounts increase sales, but high discounts reduce profit margin</a:t>
            </a:r>
            <a:br>
              <a:rPr lang="en-US" dirty="0"/>
            </a:br>
            <a:r>
              <a:rPr lang="en-US" dirty="0"/>
              <a:t>• Customer groups show different buying behavior and order value</a:t>
            </a:r>
            <a:br>
              <a:rPr lang="en-US" dirty="0"/>
            </a:br>
            <a:r>
              <a:rPr lang="en-US" dirty="0"/>
              <a:t>• Few stores consistently show lower performance</a:t>
            </a:r>
            <a:br>
              <a:rPr lang="en-US" dirty="0"/>
            </a:br>
            <a:r>
              <a:rPr lang="en-US" dirty="0"/>
              <a:t>• Business needs better discount strategy and weekend engagement plan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4863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D714D9-F9C5-7FF5-76B7-89D243D28773}"/>
              </a:ext>
            </a:extLst>
          </p:cNvPr>
          <p:cNvSpPr txBox="1"/>
          <p:nvPr/>
        </p:nvSpPr>
        <p:spPr>
          <a:xfrm>
            <a:off x="509587" y="695325"/>
            <a:ext cx="104298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Weekend Sales Contribute Just 27% of Total Revenue</a:t>
            </a:r>
            <a:endParaRPr lang="en-IN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EAD972C-C8A2-2ED5-73FF-6E1A7586E6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2664226"/>
              </p:ext>
            </p:extLst>
          </p:nvPr>
        </p:nvGraphicFramePr>
        <p:xfrm>
          <a:off x="809624" y="2066924"/>
          <a:ext cx="6010276" cy="33704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F396ED1-4F3E-5237-0E5D-D9631FB326B4}"/>
              </a:ext>
            </a:extLst>
          </p:cNvPr>
          <p:cNvSpPr txBox="1"/>
          <p:nvPr/>
        </p:nvSpPr>
        <p:spPr>
          <a:xfrm>
            <a:off x="6886575" y="2066924"/>
            <a:ext cx="47625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Business Insights	</a:t>
            </a:r>
          </a:p>
          <a:p>
            <a:r>
              <a:rPr lang="en-US" sz="1400" dirty="0"/>
              <a:t>• Weekday sales generate </a:t>
            </a:r>
            <a:r>
              <a:rPr lang="en-US" sz="1400" b="1" dirty="0"/>
              <a:t>73% of total revenue</a:t>
            </a:r>
            <a:r>
              <a:rPr lang="en-US" sz="1400" dirty="0"/>
              <a:t>, while weekends contribute only </a:t>
            </a:r>
            <a:r>
              <a:rPr lang="en-US" sz="1400" b="1" dirty="0"/>
              <a:t>27%</a:t>
            </a:r>
            <a:r>
              <a:rPr lang="en-US" sz="1400" dirty="0"/>
              <a:t>, showing a clear performance gap.</a:t>
            </a:r>
            <a:br>
              <a:rPr lang="en-US" sz="1400" dirty="0"/>
            </a:br>
            <a:r>
              <a:rPr lang="en-US" sz="1400" dirty="0"/>
              <a:t>• Profit follows the same trend, with </a:t>
            </a:r>
            <a:r>
              <a:rPr lang="en-US" sz="1400" b="1" dirty="0"/>
              <a:t>72% earned on weekdays</a:t>
            </a:r>
            <a:r>
              <a:rPr lang="en-US" sz="1400" dirty="0"/>
              <a:t> versus </a:t>
            </a:r>
            <a:r>
              <a:rPr lang="en-US" sz="1400" b="1" dirty="0"/>
              <a:t>28% on weekends</a:t>
            </a:r>
            <a:r>
              <a:rPr lang="en-US" sz="1400" dirty="0"/>
              <a:t>.</a:t>
            </a:r>
            <a:br>
              <a:rPr lang="en-US" sz="1400" dirty="0"/>
            </a:br>
            <a:r>
              <a:rPr lang="en-US" sz="1400" dirty="0"/>
              <a:t>•Weekend sales volume is significantly lower than weekdays, indicating lower customer footfall.</a:t>
            </a:r>
            <a:endParaRPr lang="en-US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4572F2-448B-B9AC-E6CA-5A276BAB2A6E}"/>
              </a:ext>
            </a:extLst>
          </p:cNvPr>
          <p:cNvSpPr txBox="1"/>
          <p:nvPr/>
        </p:nvSpPr>
        <p:spPr>
          <a:xfrm>
            <a:off x="809624" y="5437406"/>
            <a:ext cx="10277475" cy="952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Key Insight</a:t>
            </a:r>
          </a:p>
          <a:p>
            <a:r>
              <a:rPr lang="en-US" dirty="0"/>
              <a:t>Lower customer engagement on weekends is the primary reason for weaker sales performance.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970237-66DA-DF45-7CAC-2ECC7422B1DB}"/>
              </a:ext>
            </a:extLst>
          </p:cNvPr>
          <p:cNvSpPr txBox="1"/>
          <p:nvPr/>
        </p:nvSpPr>
        <p:spPr>
          <a:xfrm>
            <a:off x="809624" y="1420593"/>
            <a:ext cx="3629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Weekday → 73%</a:t>
            </a:r>
            <a:br>
              <a:rPr lang="en-IN" dirty="0"/>
            </a:br>
            <a:r>
              <a:rPr lang="en-IN" b="1" dirty="0"/>
              <a:t>Weekend → 27%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6221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F465EA1-A317-34E4-8156-21B856B9A0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9167561"/>
              </p:ext>
            </p:extLst>
          </p:nvPr>
        </p:nvGraphicFramePr>
        <p:xfrm>
          <a:off x="246928" y="1228148"/>
          <a:ext cx="7172325" cy="33253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2C61A44-8B33-E347-6934-87AC7746D9EA}"/>
              </a:ext>
            </a:extLst>
          </p:cNvPr>
          <p:cNvSpPr txBox="1"/>
          <p:nvPr/>
        </p:nvSpPr>
        <p:spPr>
          <a:xfrm>
            <a:off x="1283855" y="120073"/>
            <a:ext cx="99013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Revenue is Concentrated in Few Product Categories</a:t>
            </a:r>
          </a:p>
          <a:p>
            <a:endParaRPr lang="en-IN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F647C6-22B4-E4FB-6DC5-DBEA96DE36DF}"/>
              </a:ext>
            </a:extLst>
          </p:cNvPr>
          <p:cNvSpPr txBox="1"/>
          <p:nvPr/>
        </p:nvSpPr>
        <p:spPr>
          <a:xfrm>
            <a:off x="7712364" y="1579418"/>
            <a:ext cx="423270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Insights 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1400" dirty="0"/>
              <a:t>Footwear is the highest revenue-generating category, followed by Tops and Accessories.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Tops and Accessories also perform strongly, together contributing nearly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30% of total revenue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Dresses category shows the lowest revenue contribution, indicating weaker demand or pricing impact.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Revenue distribution is not balanced — top 3 categories contribute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almost half of total revenue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409766-23A3-A459-D063-D50DAA3DAF3D}"/>
              </a:ext>
            </a:extLst>
          </p:cNvPr>
          <p:cNvSpPr txBox="1"/>
          <p:nvPr/>
        </p:nvSpPr>
        <p:spPr>
          <a:xfrm>
            <a:off x="1080950" y="4973488"/>
            <a:ext cx="107231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 </a:t>
            </a:r>
          </a:p>
          <a:p>
            <a:r>
              <a:rPr lang="en-US" dirty="0"/>
              <a:t>Revenue is heavily dependent on a few product categories, which increases business risk if demand shifts.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3225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AE4DBAC-8518-2B8B-522B-C726C39303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5024445"/>
              </p:ext>
            </p:extLst>
          </p:nvPr>
        </p:nvGraphicFramePr>
        <p:xfrm>
          <a:off x="633845" y="946655"/>
          <a:ext cx="5822373" cy="30342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C2C1B60-0807-8CAF-F5F0-83601457B4D9}"/>
              </a:ext>
            </a:extLst>
          </p:cNvPr>
          <p:cNvSpPr txBox="1"/>
          <p:nvPr/>
        </p:nvSpPr>
        <p:spPr>
          <a:xfrm>
            <a:off x="1228436" y="138545"/>
            <a:ext cx="10160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Revenue vs Profit vs Profit Margin Analysis by Category</a:t>
            </a: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IN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DD8E4E-B61D-E7FD-D885-A27015755D47}"/>
              </a:ext>
            </a:extLst>
          </p:cNvPr>
          <p:cNvSpPr txBox="1"/>
          <p:nvPr/>
        </p:nvSpPr>
        <p:spPr>
          <a:xfrm>
            <a:off x="6714836" y="946655"/>
            <a:ext cx="4673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Business Insight </a:t>
            </a:r>
          </a:p>
          <a:p>
            <a:r>
              <a:rPr lang="en-US" sz="1400" dirty="0"/>
              <a:t>Footwear and Tops generate higher revenue but are less efficient in profitability.</a:t>
            </a:r>
            <a:br>
              <a:rPr lang="en-US" sz="1400" dirty="0"/>
            </a:br>
            <a:r>
              <a:rPr lang="en-US" sz="1400" dirty="0"/>
              <a:t>However, Activewear shows the highest profit margin (~37%), indicating better pricing and cost efficiency. Categories like Dresses generate lower revenue and moderate profitability.</a:t>
            </a:r>
            <a:br>
              <a:rPr lang="en-US" sz="1400" dirty="0"/>
            </a:br>
            <a:r>
              <a:rPr lang="en-US" sz="1400" dirty="0"/>
              <a:t>This suggests that high sales volume does not always lead to higher profit.</a:t>
            </a:r>
            <a:endParaRPr lang="en-IN" sz="1400" dirty="0"/>
          </a:p>
        </p:txBody>
      </p:sp>
      <p:graphicFrame>
        <p:nvGraphicFramePr>
          <p:cNvPr id="9" name="TextBox 4">
            <a:extLst>
              <a:ext uri="{FF2B5EF4-FFF2-40B4-BE49-F238E27FC236}">
                <a16:creationId xmlns:a16="http://schemas.microsoft.com/office/drawing/2014/main" id="{3EC08DD1-66F3-7663-77A0-4B79D4CABDC2}"/>
              </a:ext>
            </a:extLst>
          </p:cNvPr>
          <p:cNvGraphicFramePr/>
          <p:nvPr/>
        </p:nvGraphicFramePr>
        <p:xfrm>
          <a:off x="914400" y="4341091"/>
          <a:ext cx="10307782" cy="1631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61251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2F6BF06-C005-57AB-30A6-F4BB9CC638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8690600"/>
              </p:ext>
            </p:extLst>
          </p:nvPr>
        </p:nvGraphicFramePr>
        <p:xfrm>
          <a:off x="433740" y="1430251"/>
          <a:ext cx="5662260" cy="27980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416FCA2-129F-65C0-27D3-9351942F2881}"/>
              </a:ext>
            </a:extLst>
          </p:cNvPr>
          <p:cNvSpPr txBox="1"/>
          <p:nvPr/>
        </p:nvSpPr>
        <p:spPr>
          <a:xfrm>
            <a:off x="882812" y="349386"/>
            <a:ext cx="106295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Higher Discounts Reduce Profitability Without Driving Proportionate Sales</a:t>
            </a:r>
            <a:endParaRPr lang="en-IN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CA9764-18D7-D161-219F-108F5D951CB6}"/>
              </a:ext>
            </a:extLst>
          </p:cNvPr>
          <p:cNvSpPr txBox="1"/>
          <p:nvPr/>
        </p:nvSpPr>
        <p:spPr>
          <a:xfrm>
            <a:off x="6398120" y="1613422"/>
            <a:ext cx="45404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Insights </a:t>
            </a:r>
          </a:p>
          <a:p>
            <a:r>
              <a:rPr lang="en-US" sz="1200" dirty="0"/>
              <a:t>• Products with low discount (0–10%) are giving the highest profit margin.</a:t>
            </a:r>
            <a:br>
              <a:rPr lang="en-US" sz="1200" dirty="0"/>
            </a:br>
            <a:r>
              <a:rPr lang="en-US" sz="1200" dirty="0"/>
              <a:t>• When discount increases, profit margin drops significantly.</a:t>
            </a:r>
            <a:br>
              <a:rPr lang="en-US" sz="1200" dirty="0"/>
            </a:br>
            <a:r>
              <a:rPr lang="en-US" sz="1200" dirty="0"/>
              <a:t>•Higher discounts are not leading to proportional sales growth..</a:t>
            </a:r>
            <a:br>
              <a:rPr lang="en-US" sz="1200" dirty="0"/>
            </a:br>
            <a:r>
              <a:rPr lang="en-US" sz="1200" dirty="0"/>
              <a:t>• This shows the company may be offering more discounts than required.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AB2A2F-03AC-E7F7-3A81-5236B50892C9}"/>
              </a:ext>
            </a:extLst>
          </p:cNvPr>
          <p:cNvSpPr txBox="1"/>
          <p:nvPr/>
        </p:nvSpPr>
        <p:spPr>
          <a:xfrm>
            <a:off x="882812" y="4627418"/>
            <a:ext cx="100253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 </a:t>
            </a:r>
          </a:p>
          <a:p>
            <a:r>
              <a:rPr lang="en-US" dirty="0"/>
              <a:t>FashionWave can improve profit by </a:t>
            </a:r>
            <a:r>
              <a:rPr lang="en-US" b="1" dirty="0"/>
              <a:t>controlling high discount offers and focusing more on low-Discount sales.</a:t>
            </a:r>
            <a:endParaRPr lang="en-US" dirty="0"/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F043D8-4904-3430-7675-C08299841E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957430"/>
              </p:ext>
            </p:extLst>
          </p:nvPr>
        </p:nvGraphicFramePr>
        <p:xfrm>
          <a:off x="6398120" y="3429000"/>
          <a:ext cx="5012667" cy="952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9312">
                  <a:extLst>
                    <a:ext uri="{9D8B030D-6E8A-4147-A177-3AD203B41FA5}">
                      <a16:colId xmlns:a16="http://schemas.microsoft.com/office/drawing/2014/main" val="3088033502"/>
                    </a:ext>
                  </a:extLst>
                </a:gridCol>
                <a:gridCol w="2290132">
                  <a:extLst>
                    <a:ext uri="{9D8B030D-6E8A-4147-A177-3AD203B41FA5}">
                      <a16:colId xmlns:a16="http://schemas.microsoft.com/office/drawing/2014/main" val="1413318988"/>
                    </a:ext>
                  </a:extLst>
                </a:gridCol>
                <a:gridCol w="1313223">
                  <a:extLst>
                    <a:ext uri="{9D8B030D-6E8A-4147-A177-3AD203B41FA5}">
                      <a16:colId xmlns:a16="http://schemas.microsoft.com/office/drawing/2014/main" val="285937171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Discount Brand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Average of Profitable Margin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Sum of Revenue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323656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0-10%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41.7%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2197222.424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310459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10-20%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34.2%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1008356.334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8994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20-30%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25.7%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930877.3935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13335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Grand Total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36.3%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4136456.151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67155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7196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F2C2A3-E0F5-2039-6047-EC36B333A6F0}"/>
              </a:ext>
            </a:extLst>
          </p:cNvPr>
          <p:cNvSpPr txBox="1"/>
          <p:nvPr/>
        </p:nvSpPr>
        <p:spPr>
          <a:xfrm>
            <a:off x="258619" y="498764"/>
            <a:ext cx="95226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Sales Show Seasonal Fluctuations Across Months</a:t>
            </a:r>
            <a:endParaRPr lang="en-IN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FCFDD4ED-2E24-E240-DD35-E2A284B9CD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2464539"/>
              </p:ext>
            </p:extLst>
          </p:nvPr>
        </p:nvGraphicFramePr>
        <p:xfrm>
          <a:off x="377825" y="1372971"/>
          <a:ext cx="6530976" cy="3125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A1FF62E-FC00-5B06-F622-9EE91D65DDCE}"/>
              </a:ext>
            </a:extLst>
          </p:cNvPr>
          <p:cNvSpPr txBox="1"/>
          <p:nvPr/>
        </p:nvSpPr>
        <p:spPr>
          <a:xfrm>
            <a:off x="7527636" y="1431636"/>
            <a:ext cx="43410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INSIGHTS 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Monthly sales show clear ups and downs instead of steady growth.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Some months experience sharp sales spikes, likely due to festivals or promotions.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Similar fluctuation pattern is visible in both years, indicating recurring seasonal behavior.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Unstable sales trend makes revenue forecasting and inventory planning more challenging.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8CDF5B-BA9F-1155-1012-C6FA1CBCF73C}"/>
              </a:ext>
            </a:extLst>
          </p:cNvPr>
          <p:cNvSpPr txBox="1"/>
          <p:nvPr/>
        </p:nvSpPr>
        <p:spPr>
          <a:xfrm>
            <a:off x="600364" y="5052291"/>
            <a:ext cx="104463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 </a:t>
            </a:r>
          </a:p>
          <a:p>
            <a:r>
              <a:rPr lang="en-US" dirty="0"/>
              <a:t>Sales are not consistent throughout the year, showing strong seasonal influence on customer demand.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7398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DBC1314-C8E6-388B-4C43-83F2F1B76B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8733729"/>
              </p:ext>
            </p:extLst>
          </p:nvPr>
        </p:nvGraphicFramePr>
        <p:xfrm>
          <a:off x="306694" y="950976"/>
          <a:ext cx="6112394" cy="3776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790FD1D-4A12-5513-4C69-DCDC54C2F6F9}"/>
              </a:ext>
            </a:extLst>
          </p:cNvPr>
          <p:cNvSpPr txBox="1"/>
          <p:nvPr/>
        </p:nvSpPr>
        <p:spPr>
          <a:xfrm>
            <a:off x="724662" y="250317"/>
            <a:ext cx="10742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Top Stores Drive Majority of Company Sales Performance</a:t>
            </a:r>
            <a:endParaRPr lang="en-IN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D3EC05-7DB0-E29B-1395-2E5E7282BFD7}"/>
              </a:ext>
            </a:extLst>
          </p:cNvPr>
          <p:cNvSpPr txBox="1"/>
          <p:nvPr/>
        </p:nvSpPr>
        <p:spPr>
          <a:xfrm>
            <a:off x="6601968" y="1252728"/>
            <a:ext cx="514617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Business Insights </a:t>
            </a:r>
          </a:p>
          <a:p>
            <a:r>
              <a:rPr lang="en-US" sz="1400" dirty="0"/>
              <a:t>• A small group of stores contributes the highest share of total revenue.</a:t>
            </a:r>
            <a:br>
              <a:rPr lang="en-US" sz="1400" dirty="0"/>
            </a:br>
            <a:r>
              <a:rPr lang="en-US" sz="1400" dirty="0"/>
              <a:t>• Store </a:t>
            </a:r>
            <a:r>
              <a:rPr lang="en-US" sz="1400" b="1" dirty="0"/>
              <a:t>S021 is the top performer</a:t>
            </a:r>
            <a:r>
              <a:rPr lang="en-US" sz="1400" dirty="0"/>
              <a:t>, generating the maximum sales.</a:t>
            </a:r>
            <a:br>
              <a:rPr lang="en-US" sz="1400" dirty="0"/>
            </a:br>
            <a:r>
              <a:rPr lang="en-US" sz="1400" dirty="0"/>
              <a:t>• The gap between top and lower-ranked stores shows </a:t>
            </a:r>
            <a:r>
              <a:rPr lang="en-US" sz="1400" b="1" dirty="0"/>
              <a:t>uneven performance across locations</a:t>
            </a:r>
            <a:r>
              <a:rPr lang="en-US" sz="1400" dirty="0"/>
              <a:t>.</a:t>
            </a:r>
            <a:br>
              <a:rPr lang="en-US" sz="1400" dirty="0"/>
            </a:br>
            <a:r>
              <a:rPr lang="en-US" sz="1400" dirty="0"/>
              <a:t>• Many stores are operating below potential, indicating </a:t>
            </a:r>
            <a:r>
              <a:rPr lang="en-US" sz="1400" b="1" dirty="0"/>
              <a:t>opportunity for improvement</a:t>
            </a:r>
            <a:r>
              <a:rPr lang="en-US" sz="1400" dirty="0"/>
              <a:t>.</a:t>
            </a:r>
            <a:br>
              <a:rPr lang="en-US" sz="1400" dirty="0"/>
            </a:br>
            <a:r>
              <a:rPr lang="en-US" sz="1400" dirty="0"/>
              <a:t>•Company revenue is highly dependent on a small group of top-performing stores.</a:t>
            </a:r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A8AFBF-7976-2D8E-C345-5CAF074CB7B9}"/>
              </a:ext>
            </a:extLst>
          </p:cNvPr>
          <p:cNvSpPr txBox="1"/>
          <p:nvPr/>
        </p:nvSpPr>
        <p:spPr>
          <a:xfrm>
            <a:off x="877824" y="4946904"/>
            <a:ext cx="10742676" cy="1234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 </a:t>
            </a:r>
          </a:p>
          <a:p>
            <a:r>
              <a:rPr lang="en-US" dirty="0"/>
              <a:t>Fashion Wave's revenue is not evenly distributed across stores —</a:t>
            </a:r>
            <a:br>
              <a:rPr lang="en-US" dirty="0"/>
            </a:br>
            <a:r>
              <a:rPr lang="en-US" dirty="0"/>
              <a:t>focusing on improving mid and low performing stores can significantly increase total sales.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4501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A1E681-6F96-A5B3-1C39-A8DC107982F0}"/>
              </a:ext>
            </a:extLst>
          </p:cNvPr>
          <p:cNvSpPr txBox="1"/>
          <p:nvPr/>
        </p:nvSpPr>
        <p:spPr>
          <a:xfrm>
            <a:off x="1645920" y="283464"/>
            <a:ext cx="9098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Business Relies Heavily on Returning Customers for Revenue</a:t>
            </a:r>
            <a:endParaRPr lang="en-IN" sz="2800" b="1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4EDE6FA-48A5-7CAC-D987-458C3543C8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7377515"/>
              </p:ext>
            </p:extLst>
          </p:nvPr>
        </p:nvGraphicFramePr>
        <p:xfrm>
          <a:off x="935428" y="126234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1E7AA0A-0642-E612-4C8E-0FC55F5931C5}"/>
              </a:ext>
            </a:extLst>
          </p:cNvPr>
          <p:cNvSpPr txBox="1"/>
          <p:nvPr/>
        </p:nvSpPr>
        <p:spPr>
          <a:xfrm>
            <a:off x="5735782" y="1309255"/>
            <a:ext cx="583738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Returning customers contribute the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share of total revenue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showing strong customer loyalty.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Revenue from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customers is comparatively lower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slow customer acquisition growth.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 significant portion of revenue also comes from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unknown customer segments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showing data tracking or engagement gaps.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Heavy dependence on returning customers creates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long-term growth risk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retention drops.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007D5E-8AF0-6702-28C6-8149E616A7DF}"/>
              </a:ext>
            </a:extLst>
          </p:cNvPr>
          <p:cNvSpPr txBox="1"/>
          <p:nvPr/>
        </p:nvSpPr>
        <p:spPr>
          <a:xfrm>
            <a:off x="1645920" y="4508112"/>
            <a:ext cx="96870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</a:t>
            </a:r>
          </a:p>
          <a:p>
            <a:r>
              <a:rPr lang="en-US" dirty="0"/>
              <a:t>Fashion Wave's revenue growth is currently </a:t>
            </a:r>
            <a:r>
              <a:rPr lang="en-US" b="1" dirty="0"/>
              <a:t>driven more by retention than acquisition</a:t>
            </a:r>
            <a:r>
              <a:rPr lang="en-US" dirty="0"/>
              <a:t>, which may limit future expansion potential.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9226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6EA148-5841-A6BF-91D0-94B1F49A3332}"/>
              </a:ext>
            </a:extLst>
          </p:cNvPr>
          <p:cNvSpPr txBox="1"/>
          <p:nvPr/>
        </p:nvSpPr>
        <p:spPr>
          <a:xfrm>
            <a:off x="498763" y="443346"/>
            <a:ext cx="77954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50000"/>
                  </a:schemeClr>
                </a:solidFill>
              </a:rPr>
              <a:t>Findings From the data analysis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AA55414-9ED5-4335-C831-F89FCF65BA0B}"/>
              </a:ext>
            </a:extLst>
          </p:cNvPr>
          <p:cNvCxnSpPr/>
          <p:nvPr/>
        </p:nvCxnSpPr>
        <p:spPr>
          <a:xfrm>
            <a:off x="729672" y="1028121"/>
            <a:ext cx="0" cy="401781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AD96BBE-7DAD-0A13-208F-6FF67AD42CD3}"/>
              </a:ext>
            </a:extLst>
          </p:cNvPr>
          <p:cNvSpPr txBox="1"/>
          <p:nvPr/>
        </p:nvSpPr>
        <p:spPr>
          <a:xfrm>
            <a:off x="1016000" y="1237673"/>
            <a:ext cx="9319488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Sales on weekends are clearly lower compared to weekdays.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Business is earning most revenue from only a few product categories.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Giving higher discounts is reducing profit instead of helping much.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Sales are not consistent every month — some months are strong, some are weak.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Returning customers are bringing more revenue than new customers.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Some stores are performing much better than others.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701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BD1916-3D07-680A-109D-7533CC639304}"/>
              </a:ext>
            </a:extLst>
          </p:cNvPr>
          <p:cNvSpPr txBox="1"/>
          <p:nvPr/>
        </p:nvSpPr>
        <p:spPr>
          <a:xfrm>
            <a:off x="729672" y="332510"/>
            <a:ext cx="95411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 and Projections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310CDD-D8B3-553B-6408-FB2DE14F540B}"/>
              </a:ext>
            </a:extLst>
          </p:cNvPr>
          <p:cNvCxnSpPr/>
          <p:nvPr/>
        </p:nvCxnSpPr>
        <p:spPr>
          <a:xfrm>
            <a:off x="932872" y="917285"/>
            <a:ext cx="0" cy="401781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D68EF1E-77EF-8C97-ADA6-B1A784237DF4}"/>
              </a:ext>
            </a:extLst>
          </p:cNvPr>
          <p:cNvSpPr txBox="1"/>
          <p:nvPr/>
        </p:nvSpPr>
        <p:spPr>
          <a:xfrm>
            <a:off x="1112982" y="988291"/>
            <a:ext cx="99660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Focus on increasing weekend sales through offers or marketing activities.</a:t>
            </a:r>
            <a:br>
              <a:rPr lang="en-US" dirty="0"/>
            </a:br>
            <a:r>
              <a:rPr lang="en-US" dirty="0"/>
              <a:t>• Avoid giving too much discount — focus more on smart pricing.</a:t>
            </a:r>
            <a:br>
              <a:rPr lang="en-US" dirty="0"/>
            </a:br>
            <a:r>
              <a:rPr lang="en-US" dirty="0"/>
              <a:t>• Try to grow sales in low-performing product categories.</a:t>
            </a:r>
            <a:br>
              <a:rPr lang="en-US" dirty="0"/>
            </a:br>
            <a:r>
              <a:rPr lang="en-US" dirty="0"/>
              <a:t>• Put more effort into attracting new customers.</a:t>
            </a:r>
            <a:br>
              <a:rPr lang="en-US" dirty="0"/>
            </a:br>
            <a:r>
              <a:rPr lang="en-US" dirty="0"/>
              <a:t>• Learn from top-performing stores and apply similar strategies in weaker stores.</a:t>
            </a:r>
            <a:br>
              <a:rPr lang="en-US" dirty="0"/>
            </a:b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0A2EA0-F4F6-AFEE-E106-B3BA95975414}"/>
              </a:ext>
            </a:extLst>
          </p:cNvPr>
          <p:cNvSpPr txBox="1"/>
          <p:nvPr/>
        </p:nvSpPr>
        <p:spPr>
          <a:xfrm>
            <a:off x="1191491" y="3214255"/>
            <a:ext cx="104093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• Weekend sales have strong potential to grow by around </a:t>
            </a:r>
            <a:r>
              <a:rPr lang="en-US" sz="1600" b="1" dirty="0"/>
              <a:t>10–15%</a:t>
            </a:r>
            <a:r>
              <a:rPr lang="en-US" sz="1600" dirty="0"/>
              <a:t> with better promotions and store planning</a:t>
            </a:r>
            <a:br>
              <a:rPr lang="en-US" sz="1600" dirty="0"/>
            </a:br>
            <a:r>
              <a:rPr lang="en-US" sz="1600" dirty="0"/>
              <a:t>• Overall profit margins can improve by approximately </a:t>
            </a:r>
            <a:r>
              <a:rPr lang="en-US" sz="1600" b="1" dirty="0"/>
              <a:t>5–8%</a:t>
            </a:r>
            <a:r>
              <a:rPr lang="en-US" sz="1600" dirty="0"/>
              <a:t> if pricing and discount strategies are optimized</a:t>
            </a:r>
            <a:br>
              <a:rPr lang="en-US" sz="1600" dirty="0"/>
            </a:br>
            <a:r>
              <a:rPr lang="en-US" sz="1600" dirty="0"/>
              <a:t>• Expanding the customer base will help create </a:t>
            </a:r>
            <a:r>
              <a:rPr lang="en-US" sz="1600" b="1" dirty="0"/>
              <a:t>more stable and predictable long-term revenue</a:t>
            </a:r>
            <a:br>
              <a:rPr lang="en-US" sz="1600" dirty="0"/>
            </a:br>
            <a:r>
              <a:rPr lang="en-US" sz="1600" dirty="0"/>
              <a:t>• A more balanced category mix will reduce dependency on a few products and </a:t>
            </a:r>
            <a:r>
              <a:rPr lang="en-US" sz="1600" b="1" dirty="0"/>
              <a:t>lower business risk</a:t>
            </a:r>
            <a:br>
              <a:rPr lang="en-US" sz="1600" dirty="0"/>
            </a:br>
            <a:r>
              <a:rPr lang="en-US" sz="1600" dirty="0"/>
              <a:t>• Improving underperforming stores can lead to </a:t>
            </a:r>
            <a:r>
              <a:rPr lang="en-US" sz="1600" b="1" dirty="0"/>
              <a:t>better operational efficiency and stronger total performance</a:t>
            </a:r>
            <a:endParaRPr lang="en-US" sz="1600" dirty="0"/>
          </a:p>
          <a:p>
            <a:endParaRPr lang="en-I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EEC5C4-5E4F-8701-C35B-80FEEAC15DB9}"/>
              </a:ext>
            </a:extLst>
          </p:cNvPr>
          <p:cNvSpPr txBox="1"/>
          <p:nvPr/>
        </p:nvSpPr>
        <p:spPr>
          <a:xfrm>
            <a:off x="1191491" y="2890982"/>
            <a:ext cx="10067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Business Projection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556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2859</TotalTime>
  <Words>1232</Words>
  <Application>Microsoft Office PowerPoint</Application>
  <PresentationFormat>Widescreen</PresentationFormat>
  <Paragraphs>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Pramitava Das [MBA - 2023]</dc:creator>
  <cp:lastModifiedBy>Pramitava Das [MBA - 2023]</cp:lastModifiedBy>
  <cp:revision>6</cp:revision>
  <dcterms:created xsi:type="dcterms:W3CDTF">2026-03-11T12:40:48Z</dcterms:created>
  <dcterms:modified xsi:type="dcterms:W3CDTF">2026-04-03T04:34:11Z</dcterms:modified>
</cp:coreProperties>
</file>